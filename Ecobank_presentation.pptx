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 Medium" charset="1" panose="00000600000000000000"/>
      <p:regular r:id="rId17"/>
    </p:embeddedFont>
    <p:embeddedFont>
      <p:font typeface="Poppins Semi-Bold" charset="1" panose="000007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9065982" cy="1167429"/>
            <a:chOff x="0" y="0"/>
            <a:chExt cx="238774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7748" cy="307471"/>
            </a:xfrm>
            <a:custGeom>
              <a:avLst/>
              <a:gdLst/>
              <a:ahLst/>
              <a:cxnLst/>
              <a:rect r="r" b="b" t="t" l="l"/>
              <a:pathLst>
                <a:path h="307471" w="2387748">
                  <a:moveTo>
                    <a:pt x="85395" y="0"/>
                  </a:moveTo>
                  <a:lnTo>
                    <a:pt x="2302353" y="0"/>
                  </a:lnTo>
                  <a:cubicBezTo>
                    <a:pt x="2349516" y="0"/>
                    <a:pt x="2387748" y="38233"/>
                    <a:pt x="2387748" y="85395"/>
                  </a:cubicBezTo>
                  <a:lnTo>
                    <a:pt x="2387748" y="222076"/>
                  </a:lnTo>
                  <a:cubicBezTo>
                    <a:pt x="2387748" y="269238"/>
                    <a:pt x="2349516" y="307471"/>
                    <a:pt x="2302353" y="307471"/>
                  </a:cubicBezTo>
                  <a:lnTo>
                    <a:pt x="85395" y="307471"/>
                  </a:lnTo>
                  <a:cubicBezTo>
                    <a:pt x="38233" y="307471"/>
                    <a:pt x="0" y="269238"/>
                    <a:pt x="0" y="222076"/>
                  </a:cubicBezTo>
                  <a:lnTo>
                    <a:pt x="0" y="85395"/>
                  </a:lnTo>
                  <a:cubicBezTo>
                    <a:pt x="0" y="38233"/>
                    <a:pt x="38233" y="0"/>
                    <a:pt x="85395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8774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073210" y="3946198"/>
            <a:ext cx="1878996" cy="2013210"/>
          </a:xfrm>
          <a:custGeom>
            <a:avLst/>
            <a:gdLst/>
            <a:ahLst/>
            <a:cxnLst/>
            <a:rect r="r" b="b" t="t" l="l"/>
            <a:pathLst>
              <a:path h="2013210" w="1878996">
                <a:moveTo>
                  <a:pt x="0" y="0"/>
                </a:moveTo>
                <a:lnTo>
                  <a:pt x="1878996" y="0"/>
                </a:lnTo>
                <a:lnTo>
                  <a:pt x="1878996" y="2013210"/>
                </a:lnTo>
                <a:lnTo>
                  <a:pt x="0" y="2013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10942" y="7301518"/>
            <a:ext cx="8077521" cy="4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2"/>
              </a:lnSpc>
              <a:spcBef>
                <a:spcPct val="0"/>
              </a:spcBef>
            </a:pPr>
            <a:r>
              <a:rPr lang="en-US" sz="2459" spc="16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VOTRE BANQUE EN LIGNE NOUVELLE GÉNÉRATION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5540" y="3416034"/>
            <a:ext cx="11057710" cy="182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72"/>
              </a:lnSpc>
            </a:pPr>
            <a:r>
              <a:rPr lang="en-US" b="true" sz="1231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6149" y="6236437"/>
            <a:ext cx="2859511" cy="38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7"/>
              </a:lnSpc>
            </a:pPr>
            <a:r>
              <a:rPr lang="en-US" b="true" sz="263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5540" y="5138266"/>
            <a:ext cx="9051235" cy="126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88"/>
              </a:lnSpc>
            </a:pPr>
            <a:r>
              <a:rPr lang="en-US" sz="8587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602" y="6720811"/>
            <a:ext cx="1806604" cy="22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5"/>
              </a:lnSpc>
            </a:pPr>
            <a:r>
              <a:rPr lang="en-US" sz="154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88080" y="1069042"/>
            <a:ext cx="1074634" cy="27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6"/>
              </a:lnSpc>
            </a:pPr>
            <a:r>
              <a:rPr lang="en-US" b="true" sz="162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Accueil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91323" y="1069042"/>
            <a:ext cx="1446373" cy="27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6"/>
              </a:lnSpc>
            </a:pPr>
            <a:r>
              <a:rPr lang="en-US" b="true" sz="162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À Propos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66306" y="1069042"/>
            <a:ext cx="1218869" cy="27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6"/>
              </a:lnSpc>
            </a:pPr>
            <a:r>
              <a:rPr lang="en-US" b="true" sz="162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76438"/>
            <a:ext cx="6406223" cy="70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6"/>
              </a:lnSpc>
            </a:pPr>
            <a:r>
              <a:rPr lang="en-US" b="true" sz="4707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Découvrez ECOBANK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1549" y="8037508"/>
            <a:ext cx="3970670" cy="551300"/>
            <a:chOff x="0" y="0"/>
            <a:chExt cx="1359715" cy="188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8981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88080" y="1049992"/>
            <a:ext cx="1074634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Accueil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91323" y="1049992"/>
            <a:ext cx="1446373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À propos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6306" y="1049992"/>
            <a:ext cx="1218869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6789" y="4553209"/>
            <a:ext cx="6580386" cy="144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7"/>
              </a:lnSpc>
            </a:pPr>
            <a:r>
              <a:rPr lang="en-US" sz="1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ECOBANK est votre nouvelle application bancaire qui simplifie votre quotidien financier. Gérez vos comptes, effectuez des virements et suivez vos dépenses en toute simplicité, où que vous soyez.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6789" y="6383939"/>
            <a:ext cx="6396866" cy="72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7"/>
              </a:lnSpc>
            </a:pPr>
            <a:r>
              <a:rPr lang="en-US" sz="1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Une interface intuitive conçue pour vous offrir une expérience bancaire moderne et sécurisée.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2928" y="8085828"/>
            <a:ext cx="3457014" cy="36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7"/>
              </a:lnSpc>
            </a:pPr>
            <a:r>
              <a:rPr lang="en-US" sz="18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www.ecobank.com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131362" y="2429273"/>
            <a:ext cx="5069887" cy="10031643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2846922" y="5487285"/>
            <a:ext cx="1777143" cy="2060455"/>
          </a:xfrm>
          <a:custGeom>
            <a:avLst/>
            <a:gdLst/>
            <a:ahLst/>
            <a:cxnLst/>
            <a:rect r="r" b="b" t="t" l="l"/>
            <a:pathLst>
              <a:path h="2060455" w="1777143">
                <a:moveTo>
                  <a:pt x="0" y="0"/>
                </a:moveTo>
                <a:lnTo>
                  <a:pt x="1777143" y="0"/>
                </a:lnTo>
                <a:lnTo>
                  <a:pt x="1777143" y="2060455"/>
                </a:lnTo>
                <a:lnTo>
                  <a:pt x="0" y="2060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0942" y="1083820"/>
            <a:ext cx="504527" cy="413928"/>
          </a:xfrm>
          <a:custGeom>
            <a:avLst/>
            <a:gdLst/>
            <a:ahLst/>
            <a:cxnLst/>
            <a:rect r="r" b="b" t="t" l="l"/>
            <a:pathLst>
              <a:path h="413928" w="504527">
                <a:moveTo>
                  <a:pt x="0" y="0"/>
                </a:moveTo>
                <a:lnTo>
                  <a:pt x="504526" y="0"/>
                </a:lnTo>
                <a:lnTo>
                  <a:pt x="504526" y="413928"/>
                </a:lnTo>
                <a:lnTo>
                  <a:pt x="0" y="41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236550" y="7637010"/>
            <a:ext cx="2859511" cy="47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6"/>
              </a:lnSpc>
            </a:pPr>
            <a:r>
              <a:rPr lang="en-US" b="true" sz="318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3004" y="8111859"/>
            <a:ext cx="1806604" cy="50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2"/>
              </a:lnSpc>
            </a:pPr>
            <a:r>
              <a:rPr lang="en-US" sz="177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1005932"/>
            <a:ext cx="1930226" cy="3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4"/>
              </a:lnSpc>
            </a:pPr>
            <a:r>
              <a:rPr lang="en-US" b="true" sz="2042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3710980"/>
            <a:ext cx="12687804" cy="9451509"/>
            <a:chOff x="0" y="0"/>
            <a:chExt cx="1155115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5115" cy="860478"/>
            </a:xfrm>
            <a:custGeom>
              <a:avLst/>
              <a:gdLst/>
              <a:ahLst/>
              <a:cxnLst/>
              <a:rect r="r" b="b" t="t" l="l"/>
              <a:pathLst>
                <a:path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32079" y="4217228"/>
            <a:ext cx="639485" cy="63948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493391" y="4357012"/>
            <a:ext cx="6596199" cy="37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7"/>
              </a:lnSpc>
            </a:pPr>
            <a:r>
              <a:rPr lang="en-US" b="true" sz="2651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Le Frontend (Interface Utilisateur)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7039" y="4991912"/>
            <a:ext cx="4024907" cy="21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851822" y="4322929"/>
            <a:ext cx="363188" cy="26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b="true" sz="1912" spc="-72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2079" y="5369144"/>
            <a:ext cx="8518823" cy="395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810" indent="-271405" lvl="1">
              <a:lnSpc>
                <a:spcPts val="3519"/>
              </a:lnSpc>
              <a:buFont typeface="Arial"/>
              <a:buChar char="•"/>
            </a:pPr>
            <a:r>
              <a:rPr lang="en-US" b="true" sz="2514" spc="35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EnTechnologie : Flutter &amp; Dart.</a:t>
            </a:r>
          </a:p>
          <a:p>
            <a:pPr algn="l" marL="542810" indent="-271405" lvl="1">
              <a:lnSpc>
                <a:spcPts val="3519"/>
              </a:lnSpc>
              <a:buFont typeface="Arial"/>
              <a:buChar char="•"/>
            </a:pPr>
            <a:r>
              <a:rPr lang="en-US" b="true" sz="2514" spc="35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Rôle : L'application s'exécute via le navigateur (Google Edge) et gère l'ensemble des interactions avec l'utilisateur.</a:t>
            </a:r>
          </a:p>
          <a:p>
            <a:pPr algn="l" marL="542810" indent="-271405" lvl="1">
              <a:lnSpc>
                <a:spcPts val="3519"/>
              </a:lnSpc>
              <a:buFont typeface="Arial"/>
              <a:buChar char="•"/>
            </a:pPr>
            <a:r>
              <a:rPr lang="en-US" b="true" sz="2514" spc="35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 : Elle est organisée en 5 modules principaux (Tableau de bord, Statistiques, Objectifs d'épargne, Gestion des cartes et Profil).</a:t>
            </a:r>
          </a:p>
          <a:p>
            <a:pPr algn="l" marL="0" indent="0" lvl="0">
              <a:lnSpc>
                <a:spcPts val="351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202461"/>
            <a:ext cx="9848569" cy="81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4"/>
              </a:lnSpc>
              <a:spcBef>
                <a:spcPct val="0"/>
              </a:spcBef>
            </a:pPr>
            <a:r>
              <a:rPr lang="en-US" b="true" sz="5424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TECHNIQUE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0594" y="3203601"/>
            <a:ext cx="7358381" cy="81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4"/>
              </a:lnSpc>
              <a:spcBef>
                <a:spcPct val="0"/>
              </a:spcBef>
            </a:pPr>
            <a:r>
              <a:rPr lang="en-US" b="true" sz="5424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 ET STACK LOGICIEL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3069640" y="7029402"/>
            <a:ext cx="1426196" cy="1431354"/>
          </a:xfrm>
          <a:custGeom>
            <a:avLst/>
            <a:gdLst/>
            <a:ahLst/>
            <a:cxnLst/>
            <a:rect r="r" b="b" t="t" l="l"/>
            <a:pathLst>
              <a:path h="1431354" w="1426196">
                <a:moveTo>
                  <a:pt x="0" y="0"/>
                </a:moveTo>
                <a:lnTo>
                  <a:pt x="1426196" y="0"/>
                </a:lnTo>
                <a:lnTo>
                  <a:pt x="1426196" y="1431354"/>
                </a:lnTo>
                <a:lnTo>
                  <a:pt x="0" y="143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711887" y="8702118"/>
            <a:ext cx="2146847" cy="2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5"/>
              </a:lnSpc>
            </a:pPr>
            <a:r>
              <a:rPr lang="en-US" b="true" sz="1388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07135" y="9075298"/>
            <a:ext cx="1356352" cy="36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8"/>
              </a:lnSpc>
            </a:pPr>
            <a:r>
              <a:rPr lang="en-US" sz="1334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256658" y="1010378"/>
            <a:ext cx="512825" cy="518830"/>
          </a:xfrm>
          <a:custGeom>
            <a:avLst/>
            <a:gdLst/>
            <a:ahLst/>
            <a:cxnLst/>
            <a:rect r="r" b="b" t="t" l="l"/>
            <a:pathLst>
              <a:path h="518830" w="512825">
                <a:moveTo>
                  <a:pt x="0" y="0"/>
                </a:moveTo>
                <a:lnTo>
                  <a:pt x="512825" y="0"/>
                </a:lnTo>
                <a:lnTo>
                  <a:pt x="512825" y="518830"/>
                </a:lnTo>
                <a:lnTo>
                  <a:pt x="0" y="518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900893" y="1005932"/>
            <a:ext cx="1930226" cy="17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5"/>
              </a:lnSpc>
            </a:pPr>
            <a:r>
              <a:rPr lang="en-US" b="true" sz="1248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387" y="6372552"/>
            <a:ext cx="7764613" cy="369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1220" indent="-260610" lvl="1">
              <a:lnSpc>
                <a:spcPts val="3283"/>
              </a:lnSpc>
              <a:buFont typeface="Arial"/>
              <a:buChar char="•"/>
            </a:pPr>
            <a:r>
              <a:rPr lang="en-US" b="true" sz="2414" spc="86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 : Node.js avec le framework Express.js.</a:t>
            </a:r>
          </a:p>
          <a:p>
            <a:pPr algn="l" marL="521220" indent="-260610" lvl="1">
              <a:lnSpc>
                <a:spcPts val="3283"/>
              </a:lnSpc>
              <a:buFont typeface="Arial"/>
              <a:buChar char="•"/>
            </a:pPr>
            <a:r>
              <a:rPr lang="en-US" b="true" sz="2414" spc="86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Sécurité : Mise en œuvre de l'authentification par JWT (JSON Web Tokens) pour des sessions sécurisées et expirables.</a:t>
            </a:r>
          </a:p>
          <a:p>
            <a:pPr algn="l" marL="521220" indent="-260610" lvl="1">
              <a:lnSpc>
                <a:spcPts val="3283"/>
              </a:lnSpc>
              <a:buFont typeface="Arial"/>
              <a:buChar char="•"/>
            </a:pPr>
            <a:r>
              <a:rPr lang="en-US" b="true" sz="2414" spc="86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: Temps de réponse optimisé à moins de 500ms par requête.</a:t>
            </a:r>
          </a:p>
          <a:p>
            <a:pPr algn="l" marL="0" indent="0" lvl="0">
              <a:lnSpc>
                <a:spcPts val="328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364718" y="5360147"/>
            <a:ext cx="4852690" cy="47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1"/>
              </a:lnSpc>
              <a:spcBef>
                <a:spcPct val="0"/>
              </a:spcBef>
            </a:pPr>
            <a:r>
              <a:rPr lang="en-US" b="true" sz="26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 Backend (Logique Métier)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282127" y="5268818"/>
            <a:ext cx="734078" cy="73407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67572" y="5455397"/>
            <a:ext cx="363188" cy="30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6"/>
              </a:lnSpc>
            </a:pPr>
            <a:r>
              <a:rPr lang="en-US" b="true" sz="2112" spc="-8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7111" y="1943699"/>
            <a:ext cx="6077607" cy="308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  <a:spcBef>
                <a:spcPct val="0"/>
              </a:spcBef>
            </a:pP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Système : PostgreSQL 15.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Modélisation : Une structure relationnelle normalisée comprenant 8 tables essentielles (utilisateurs, comptes, transactions, cartes bancaires, objectifs d'épargne, etc.).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58561" y="1475894"/>
            <a:ext cx="5372199" cy="45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Base de Données (Persistance)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647626" y="1420113"/>
            <a:ext cx="639485" cy="6394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830645" y="1494944"/>
            <a:ext cx="273447" cy="35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1"/>
              </a:lnSpc>
              <a:spcBef>
                <a:spcPct val="0"/>
              </a:spcBef>
            </a:pPr>
            <a:r>
              <a:rPr lang="en-US" b="true" sz="19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841285" y="4936368"/>
            <a:ext cx="3806341" cy="7531500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3069640" y="7029402"/>
            <a:ext cx="1426196" cy="1431354"/>
          </a:xfrm>
          <a:custGeom>
            <a:avLst/>
            <a:gdLst/>
            <a:ahLst/>
            <a:cxnLst/>
            <a:rect r="r" b="b" t="t" l="l"/>
            <a:pathLst>
              <a:path h="1431354" w="1426196">
                <a:moveTo>
                  <a:pt x="0" y="0"/>
                </a:moveTo>
                <a:lnTo>
                  <a:pt x="1426196" y="0"/>
                </a:lnTo>
                <a:lnTo>
                  <a:pt x="1426196" y="1431354"/>
                </a:lnTo>
                <a:lnTo>
                  <a:pt x="0" y="143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711887" y="8702118"/>
            <a:ext cx="2146847" cy="2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5"/>
              </a:lnSpc>
            </a:pPr>
            <a:r>
              <a:rPr lang="en-US" b="true" sz="1388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7135" y="9075298"/>
            <a:ext cx="1356352" cy="36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8"/>
              </a:lnSpc>
            </a:pPr>
            <a:r>
              <a:rPr lang="en-US" sz="1334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4795" y="3019324"/>
            <a:ext cx="12687804" cy="9451509"/>
            <a:chOff x="0" y="0"/>
            <a:chExt cx="1155115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5115" cy="860478"/>
            </a:xfrm>
            <a:custGeom>
              <a:avLst/>
              <a:gdLst/>
              <a:ahLst/>
              <a:cxnLst/>
              <a:rect r="r" b="b" t="t" l="l"/>
              <a:pathLst>
                <a:path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6658" y="2371371"/>
            <a:ext cx="6776758" cy="227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4"/>
              </a:lnSpc>
            </a:pPr>
            <a:r>
              <a:rPr lang="en-US" sz="5424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FONCTIONNALITÉS AVANCÉES</a:t>
            </a:r>
          </a:p>
          <a:p>
            <a:pPr algn="l" marL="0" indent="0" lvl="0">
              <a:lnSpc>
                <a:spcPts val="5804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069640" y="7029402"/>
            <a:ext cx="1426196" cy="1431354"/>
          </a:xfrm>
          <a:custGeom>
            <a:avLst/>
            <a:gdLst/>
            <a:ahLst/>
            <a:cxnLst/>
            <a:rect r="r" b="b" t="t" l="l"/>
            <a:pathLst>
              <a:path h="1431354" w="1426196">
                <a:moveTo>
                  <a:pt x="0" y="0"/>
                </a:moveTo>
                <a:lnTo>
                  <a:pt x="1426196" y="0"/>
                </a:lnTo>
                <a:lnTo>
                  <a:pt x="1426196" y="1431354"/>
                </a:lnTo>
                <a:lnTo>
                  <a:pt x="0" y="143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711887" y="8702118"/>
            <a:ext cx="2146847" cy="2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5"/>
              </a:lnSpc>
            </a:pPr>
            <a:r>
              <a:rPr lang="en-US" b="true" sz="1388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07135" y="9075298"/>
            <a:ext cx="1356352" cy="36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8"/>
              </a:lnSpc>
            </a:pPr>
            <a:r>
              <a:rPr lang="en-US" sz="1334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56658" y="1010378"/>
            <a:ext cx="512825" cy="518830"/>
          </a:xfrm>
          <a:custGeom>
            <a:avLst/>
            <a:gdLst/>
            <a:ahLst/>
            <a:cxnLst/>
            <a:rect r="r" b="b" t="t" l="l"/>
            <a:pathLst>
              <a:path h="518830" w="512825">
                <a:moveTo>
                  <a:pt x="0" y="0"/>
                </a:moveTo>
                <a:lnTo>
                  <a:pt x="512825" y="0"/>
                </a:lnTo>
                <a:lnTo>
                  <a:pt x="512825" y="518830"/>
                </a:lnTo>
                <a:lnTo>
                  <a:pt x="0" y="518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900893" y="1005932"/>
            <a:ext cx="1930226" cy="17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5"/>
              </a:lnSpc>
            </a:pPr>
            <a:r>
              <a:rPr lang="en-US" b="true" sz="1248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32880" y="3986926"/>
            <a:ext cx="10951634" cy="527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L'application ECOBANK dépasse le simple affichage de solde en proposant des outils de gestion complets :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Gestion des Comptes : Consultation du solde en temps réel (exemple type : utilisateur Mariam avec un solde de 4.250,85 €).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Moteur de Transactions : Système de virement interne validé par l'API, avec mise à jour instantanée de la base de données et historique catégorisé.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Analyse de Données : Génération de graphiques dynamiques pour le suivi des revenus vs dépenses et l'évolution mensuelle du patrimoine.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Planification Financière : Module d'objectifs d'épargne avec barres de progression et conseils automatisés pour encourager l'utilisateur.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7094792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80557" y="2698327"/>
            <a:ext cx="9707443" cy="7052286"/>
            <a:chOff x="0" y="0"/>
            <a:chExt cx="2137096" cy="15525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096" cy="1552563"/>
            </a:xfrm>
            <a:custGeom>
              <a:avLst/>
              <a:gdLst/>
              <a:ahLst/>
              <a:cxnLst/>
              <a:rect r="r" b="b" t="t" l="l"/>
              <a:pathLst>
                <a:path h="1552563" w="2137096">
                  <a:moveTo>
                    <a:pt x="15153" y="0"/>
                  </a:moveTo>
                  <a:lnTo>
                    <a:pt x="2121943" y="0"/>
                  </a:lnTo>
                  <a:cubicBezTo>
                    <a:pt x="2125962" y="0"/>
                    <a:pt x="2129816" y="1596"/>
                    <a:pt x="2132658" y="4438"/>
                  </a:cubicBezTo>
                  <a:cubicBezTo>
                    <a:pt x="2135500" y="7280"/>
                    <a:pt x="2137096" y="11134"/>
                    <a:pt x="2137096" y="15153"/>
                  </a:cubicBezTo>
                  <a:lnTo>
                    <a:pt x="2137096" y="1537410"/>
                  </a:lnTo>
                  <a:cubicBezTo>
                    <a:pt x="2137096" y="1541429"/>
                    <a:pt x="2135500" y="1545283"/>
                    <a:pt x="2132658" y="1548124"/>
                  </a:cubicBezTo>
                  <a:cubicBezTo>
                    <a:pt x="2129816" y="1550966"/>
                    <a:pt x="2125962" y="1552563"/>
                    <a:pt x="2121943" y="1552563"/>
                  </a:cubicBezTo>
                  <a:lnTo>
                    <a:pt x="15153" y="1552563"/>
                  </a:lnTo>
                  <a:cubicBezTo>
                    <a:pt x="11134" y="1552563"/>
                    <a:pt x="7280" y="1550966"/>
                    <a:pt x="4438" y="1548124"/>
                  </a:cubicBezTo>
                  <a:cubicBezTo>
                    <a:pt x="1596" y="1545283"/>
                    <a:pt x="0" y="1541429"/>
                    <a:pt x="0" y="1537410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37096" cy="160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88080" y="1049992"/>
            <a:ext cx="1074634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91323" y="1049992"/>
            <a:ext cx="1446373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66306" y="1049992"/>
            <a:ext cx="1218869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1549" y="2385693"/>
            <a:ext cx="6248498" cy="14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0"/>
              </a:lnSpc>
              <a:spcBef>
                <a:spcPct val="0"/>
              </a:spcBef>
            </a:pPr>
            <a:r>
              <a:rPr lang="en-US" b="true" sz="5178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INFRASTRUCTURE ET SÉCURITÉ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10288" y="959473"/>
            <a:ext cx="402594" cy="637441"/>
          </a:xfrm>
          <a:custGeom>
            <a:avLst/>
            <a:gdLst/>
            <a:ahLst/>
            <a:cxnLst/>
            <a:rect r="r" b="b" t="t" l="l"/>
            <a:pathLst>
              <a:path h="637441" w="402594">
                <a:moveTo>
                  <a:pt x="0" y="0"/>
                </a:moveTo>
                <a:lnTo>
                  <a:pt x="402595" y="0"/>
                </a:lnTo>
                <a:lnTo>
                  <a:pt x="402595" y="637441"/>
                </a:lnTo>
                <a:lnTo>
                  <a:pt x="0" y="63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00893" y="1005932"/>
            <a:ext cx="1930226" cy="3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4"/>
              </a:lnSpc>
            </a:pPr>
            <a:r>
              <a:rPr lang="en-US" b="true" sz="20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963814" y="5143500"/>
            <a:ext cx="5002812" cy="9898924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3573702" y="6517283"/>
            <a:ext cx="1771094" cy="2213868"/>
          </a:xfrm>
          <a:custGeom>
            <a:avLst/>
            <a:gdLst/>
            <a:ahLst/>
            <a:cxnLst/>
            <a:rect r="r" b="b" t="t" l="l"/>
            <a:pathLst>
              <a:path h="2213868" w="1771094">
                <a:moveTo>
                  <a:pt x="0" y="0"/>
                </a:moveTo>
                <a:lnTo>
                  <a:pt x="1771095" y="0"/>
                </a:lnTo>
                <a:lnTo>
                  <a:pt x="1771095" y="2213868"/>
                </a:lnTo>
                <a:lnTo>
                  <a:pt x="0" y="2213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054380" y="8777046"/>
            <a:ext cx="2821679" cy="4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1"/>
              </a:lnSpc>
            </a:pPr>
            <a:r>
              <a:rPr lang="en-US" b="true" sz="314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73869" y="9264537"/>
            <a:ext cx="1782703" cy="48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77"/>
              </a:lnSpc>
            </a:pPr>
            <a:r>
              <a:rPr lang="en-US" sz="1754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25397" y="3012887"/>
            <a:ext cx="6029047" cy="35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6"/>
              </a:lnSpc>
            </a:pPr>
            <a:r>
              <a:rPr lang="en-US" b="true" sz="2573">
                <a:solidFill>
                  <a:srgbClr val="393939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573">
                <a:solidFill>
                  <a:srgbClr val="393939"/>
                </a:solidFill>
                <a:latin typeface="Poppins Bold"/>
                <a:ea typeface="Poppins Bold"/>
                <a:cs typeface="Poppins Bold"/>
                <a:sym typeface="Poppins Bold"/>
              </a:rPr>
              <a:t>onteneurisation avec Docker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4063563"/>
            <a:ext cx="9144000" cy="371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6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L'intégralité de l'écosystème est orchestré par Docker Compose.</a:t>
            </a:r>
          </a:p>
          <a:p>
            <a:pPr algn="l">
              <a:lnSpc>
                <a:spcPts val="3716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Isolation : Le serveur API et la base de données tournent dans des conteneurs distincts communiquant via un réseau virtuel interne.</a:t>
            </a:r>
          </a:p>
          <a:p>
            <a:pPr algn="l">
              <a:lnSpc>
                <a:spcPts val="3716"/>
              </a:lnSpc>
              <a:spcBef>
                <a:spcPct val="0"/>
              </a:spcBef>
            </a:pPr>
            <a:r>
              <a:rPr lang="en-US" b="true" sz="265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Déploiement : Cette approche rend l'application "Cloud-Ready", prête à être déployée sur AWS, Azure ou Google Cloud en quelques minutes.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7094792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80557" y="2698327"/>
            <a:ext cx="9707443" cy="7052286"/>
            <a:chOff x="0" y="0"/>
            <a:chExt cx="2137096" cy="15525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096" cy="1552563"/>
            </a:xfrm>
            <a:custGeom>
              <a:avLst/>
              <a:gdLst/>
              <a:ahLst/>
              <a:cxnLst/>
              <a:rect r="r" b="b" t="t" l="l"/>
              <a:pathLst>
                <a:path h="1552563" w="2137096">
                  <a:moveTo>
                    <a:pt x="15153" y="0"/>
                  </a:moveTo>
                  <a:lnTo>
                    <a:pt x="2121943" y="0"/>
                  </a:lnTo>
                  <a:cubicBezTo>
                    <a:pt x="2125962" y="0"/>
                    <a:pt x="2129816" y="1596"/>
                    <a:pt x="2132658" y="4438"/>
                  </a:cubicBezTo>
                  <a:cubicBezTo>
                    <a:pt x="2135500" y="7280"/>
                    <a:pt x="2137096" y="11134"/>
                    <a:pt x="2137096" y="15153"/>
                  </a:cubicBezTo>
                  <a:lnTo>
                    <a:pt x="2137096" y="1537410"/>
                  </a:lnTo>
                  <a:cubicBezTo>
                    <a:pt x="2137096" y="1541429"/>
                    <a:pt x="2135500" y="1545283"/>
                    <a:pt x="2132658" y="1548124"/>
                  </a:cubicBezTo>
                  <a:cubicBezTo>
                    <a:pt x="2129816" y="1550966"/>
                    <a:pt x="2125962" y="1552563"/>
                    <a:pt x="2121943" y="1552563"/>
                  </a:cubicBezTo>
                  <a:lnTo>
                    <a:pt x="15153" y="1552563"/>
                  </a:lnTo>
                  <a:cubicBezTo>
                    <a:pt x="11134" y="1552563"/>
                    <a:pt x="7280" y="1550966"/>
                    <a:pt x="4438" y="1548124"/>
                  </a:cubicBezTo>
                  <a:cubicBezTo>
                    <a:pt x="1596" y="1545283"/>
                    <a:pt x="0" y="1541429"/>
                    <a:pt x="0" y="1537410"/>
                  </a:cubicBezTo>
                  <a:lnTo>
                    <a:pt x="0" y="15153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37096" cy="160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88080" y="1049992"/>
            <a:ext cx="1074634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91323" y="1049992"/>
            <a:ext cx="1446373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66306" y="1049992"/>
            <a:ext cx="1218869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1549" y="2385693"/>
            <a:ext cx="6248498" cy="14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0"/>
              </a:lnSpc>
              <a:spcBef>
                <a:spcPct val="0"/>
              </a:spcBef>
            </a:pPr>
            <a:r>
              <a:rPr lang="en-US" b="true" sz="5178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INFRASTRUCTURE ET SÉCURITÉ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10288" y="959473"/>
            <a:ext cx="402594" cy="637441"/>
          </a:xfrm>
          <a:custGeom>
            <a:avLst/>
            <a:gdLst/>
            <a:ahLst/>
            <a:cxnLst/>
            <a:rect r="r" b="b" t="t" l="l"/>
            <a:pathLst>
              <a:path h="637441" w="402594">
                <a:moveTo>
                  <a:pt x="0" y="0"/>
                </a:moveTo>
                <a:lnTo>
                  <a:pt x="402595" y="0"/>
                </a:lnTo>
                <a:lnTo>
                  <a:pt x="402595" y="637441"/>
                </a:lnTo>
                <a:lnTo>
                  <a:pt x="0" y="63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00893" y="1005932"/>
            <a:ext cx="1930226" cy="3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4"/>
              </a:lnSpc>
            </a:pPr>
            <a:r>
              <a:rPr lang="en-US" b="true" sz="20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963814" y="5143500"/>
            <a:ext cx="5002812" cy="9898924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3573702" y="6517283"/>
            <a:ext cx="1771094" cy="2213868"/>
          </a:xfrm>
          <a:custGeom>
            <a:avLst/>
            <a:gdLst/>
            <a:ahLst/>
            <a:cxnLst/>
            <a:rect r="r" b="b" t="t" l="l"/>
            <a:pathLst>
              <a:path h="2213868" w="1771094">
                <a:moveTo>
                  <a:pt x="0" y="0"/>
                </a:moveTo>
                <a:lnTo>
                  <a:pt x="1771095" y="0"/>
                </a:lnTo>
                <a:lnTo>
                  <a:pt x="1771095" y="2213868"/>
                </a:lnTo>
                <a:lnTo>
                  <a:pt x="0" y="2213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054380" y="8777046"/>
            <a:ext cx="2821679" cy="4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1"/>
              </a:lnSpc>
            </a:pPr>
            <a:r>
              <a:rPr lang="en-US" b="true" sz="314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73869" y="9264537"/>
            <a:ext cx="1782703" cy="48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77"/>
              </a:lnSpc>
            </a:pPr>
            <a:r>
              <a:rPr lang="en-US" sz="1754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4235013"/>
            <a:ext cx="8640134" cy="374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231" indent="-287116" lvl="1">
              <a:lnSpc>
                <a:spcPts val="3723"/>
              </a:lnSpc>
              <a:buFont typeface="Arial"/>
              <a:buChar char="•"/>
            </a:pPr>
            <a:r>
              <a:rPr lang="en-US" b="true" sz="265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Protection des Données : Utilisation de la bibliothèque bcrypt pour le hachage des mots de passe (aucun mot de passe n'est stocké en clair).</a:t>
            </a:r>
          </a:p>
          <a:p>
            <a:pPr algn="l" marL="574231" indent="-287116" lvl="1">
              <a:lnSpc>
                <a:spcPts val="3723"/>
              </a:lnSpc>
              <a:buFont typeface="Arial"/>
              <a:buChar char="•"/>
            </a:pPr>
            <a:r>
              <a:rPr lang="en-US" b="true" sz="265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Intégrité : Respect des propriétés ACID pour les transactions en base de données, garantissant qu'aucun virement ne puisse être corrompu en cas d'erreur.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6690" y="3035393"/>
            <a:ext cx="9707443" cy="50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b="true" sz="286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Protocoles de Sécurité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3"/>
              </a:lnSpc>
            </a:pPr>
            <a:r>
              <a:rPr lang="en-US" b="true" sz="19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Accueil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3"/>
              </a:lnSpc>
            </a:pPr>
            <a:r>
              <a:rPr lang="en-US" b="true" sz="19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À propos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3"/>
              </a:lnSpc>
            </a:pPr>
            <a:r>
              <a:rPr lang="en-US" b="true" sz="19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5110" y="2221525"/>
            <a:ext cx="7578890" cy="18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37"/>
              </a:lnSpc>
              <a:spcBef>
                <a:spcPct val="0"/>
              </a:spcBef>
            </a:pPr>
            <a:r>
              <a:rPr lang="en-US" b="true" sz="6670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BILAN ET PERSPECTIVES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79783" y="1004293"/>
            <a:ext cx="464139" cy="571917"/>
          </a:xfrm>
          <a:custGeom>
            <a:avLst/>
            <a:gdLst/>
            <a:ahLst/>
            <a:cxnLst/>
            <a:rect r="r" b="b" t="t" l="l"/>
            <a:pathLst>
              <a:path h="571917" w="464139">
                <a:moveTo>
                  <a:pt x="0" y="0"/>
                </a:moveTo>
                <a:lnTo>
                  <a:pt x="464140" y="0"/>
                </a:lnTo>
                <a:lnTo>
                  <a:pt x="464140" y="571917"/>
                </a:lnTo>
                <a:lnTo>
                  <a:pt x="0" y="571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00893" y="1005932"/>
            <a:ext cx="1930226" cy="26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74"/>
              </a:lnSpc>
            </a:pPr>
            <a:r>
              <a:rPr lang="en-US" b="true" sz="18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0893" y="1332894"/>
            <a:ext cx="1219493" cy="34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278006" y="4533520"/>
            <a:ext cx="8510279" cy="5753480"/>
            <a:chOff x="0" y="0"/>
            <a:chExt cx="2241390" cy="1515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1391" cy="1515320"/>
            </a:xfrm>
            <a:custGeom>
              <a:avLst/>
              <a:gdLst/>
              <a:ahLst/>
              <a:cxnLst/>
              <a:rect r="r" b="b" t="t" l="l"/>
              <a:pathLst>
                <a:path h="1515320" w="2241391">
                  <a:moveTo>
                    <a:pt x="15465" y="0"/>
                  </a:moveTo>
                  <a:lnTo>
                    <a:pt x="2225925" y="0"/>
                  </a:lnTo>
                  <a:cubicBezTo>
                    <a:pt x="2234467" y="0"/>
                    <a:pt x="2241391" y="6924"/>
                    <a:pt x="2241391" y="15465"/>
                  </a:cubicBezTo>
                  <a:lnTo>
                    <a:pt x="2241391" y="1499855"/>
                  </a:lnTo>
                  <a:cubicBezTo>
                    <a:pt x="2241391" y="1508396"/>
                    <a:pt x="2234467" y="1515320"/>
                    <a:pt x="2225925" y="1515320"/>
                  </a:cubicBezTo>
                  <a:lnTo>
                    <a:pt x="15465" y="1515320"/>
                  </a:lnTo>
                  <a:cubicBezTo>
                    <a:pt x="6924" y="1515320"/>
                    <a:pt x="0" y="1508396"/>
                    <a:pt x="0" y="1499855"/>
                  </a:cubicBezTo>
                  <a:lnTo>
                    <a:pt x="0" y="15465"/>
                  </a:lnTo>
                  <a:cubicBezTo>
                    <a:pt x="0" y="6924"/>
                    <a:pt x="6924" y="0"/>
                    <a:pt x="15465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41390" cy="1572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3"/>
                </a:lnSpc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196595" y="2389096"/>
            <a:ext cx="4705788" cy="9311209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334547" y="4481011"/>
            <a:ext cx="2681025" cy="5304868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5087642" y="4481011"/>
            <a:ext cx="2681025" cy="5304868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2699513" y="4130266"/>
            <a:ext cx="1671993" cy="1955547"/>
          </a:xfrm>
          <a:custGeom>
            <a:avLst/>
            <a:gdLst/>
            <a:ahLst/>
            <a:cxnLst/>
            <a:rect r="r" b="b" t="t" l="l"/>
            <a:pathLst>
              <a:path h="1955547" w="1671993">
                <a:moveTo>
                  <a:pt x="0" y="0"/>
                </a:moveTo>
                <a:lnTo>
                  <a:pt x="1671992" y="0"/>
                </a:lnTo>
                <a:lnTo>
                  <a:pt x="1671992" y="1955547"/>
                </a:lnTo>
                <a:lnTo>
                  <a:pt x="0" y="195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0077473" y="5459853"/>
            <a:ext cx="1140757" cy="1193662"/>
          </a:xfrm>
          <a:custGeom>
            <a:avLst/>
            <a:gdLst/>
            <a:ahLst/>
            <a:cxnLst/>
            <a:rect r="r" b="b" t="t" l="l"/>
            <a:pathLst>
              <a:path h="1193662" w="1140757">
                <a:moveTo>
                  <a:pt x="0" y="0"/>
                </a:moveTo>
                <a:lnTo>
                  <a:pt x="1140757" y="0"/>
                </a:lnTo>
                <a:lnTo>
                  <a:pt x="1140757" y="1193663"/>
                </a:lnTo>
                <a:lnTo>
                  <a:pt x="0" y="1193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5962072" y="5294545"/>
            <a:ext cx="868922" cy="1380753"/>
          </a:xfrm>
          <a:custGeom>
            <a:avLst/>
            <a:gdLst/>
            <a:ahLst/>
            <a:cxnLst/>
            <a:rect r="r" b="b" t="t" l="l"/>
            <a:pathLst>
              <a:path h="1380753" w="868922">
                <a:moveTo>
                  <a:pt x="0" y="0"/>
                </a:moveTo>
                <a:lnTo>
                  <a:pt x="868922" y="0"/>
                </a:lnTo>
                <a:lnTo>
                  <a:pt x="868922" y="1380753"/>
                </a:lnTo>
                <a:lnTo>
                  <a:pt x="0" y="1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2222413" y="6272486"/>
            <a:ext cx="2654152" cy="38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4"/>
              </a:lnSpc>
            </a:pPr>
            <a:r>
              <a:rPr lang="en-US" b="true" sz="253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18985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672080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711058" y="6731599"/>
            <a:ext cx="1676861" cy="47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59"/>
              </a:lnSpc>
            </a:pPr>
            <a:r>
              <a:rPr lang="en-US" sz="173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97381" y="6959160"/>
            <a:ext cx="955357" cy="26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950476" y="6959160"/>
            <a:ext cx="955357" cy="26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1804" y="4914520"/>
            <a:ext cx="7870470" cy="527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465" spc="12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 projet démontre une maîtrise complète du cycle de développement logiciel, du design d'interface à l'administration système.</a:t>
            </a:r>
          </a:p>
          <a:p>
            <a:pPr algn="l" marL="532325" indent="-266163" lvl="1">
              <a:lnSpc>
                <a:spcPts val="3501"/>
              </a:lnSpc>
              <a:buFont typeface="Arial"/>
              <a:buChar char="•"/>
            </a:pPr>
            <a:r>
              <a:rPr lang="en-US" b="true" sz="2465" spc="12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Améliorations futures envisagées :</a:t>
            </a:r>
          </a:p>
          <a:p>
            <a:pPr algn="l">
              <a:lnSpc>
                <a:spcPts val="3501"/>
              </a:lnSpc>
            </a:pPr>
            <a:r>
              <a:rPr lang="en-US" b="true" sz="2465" spc="12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Intégration d'APIs bancaires réelles pour la synchronisation de comptes.</a:t>
            </a:r>
          </a:p>
          <a:p>
            <a:pPr algn="l">
              <a:lnSpc>
                <a:spcPts val="3501"/>
              </a:lnSpc>
            </a:pPr>
            <a:r>
              <a:rPr lang="en-US" b="true" sz="2465" spc="12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Implémentation de l'authentification biométrique (FaceID/Empreinte).</a:t>
            </a:r>
          </a:p>
          <a:p>
            <a:pPr algn="l">
              <a:lnSpc>
                <a:spcPts val="3501"/>
              </a:lnSpc>
            </a:pPr>
            <a:r>
              <a:rPr lang="en-US" b="true" sz="2465" spc="12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Développement d'un système de notifications push pour les alertes de solde bas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1829" y="983737"/>
            <a:ext cx="420925" cy="557137"/>
          </a:xfrm>
          <a:custGeom>
            <a:avLst/>
            <a:gdLst/>
            <a:ahLst/>
            <a:cxnLst/>
            <a:rect r="r" b="b" t="t" l="l"/>
            <a:pathLst>
              <a:path h="557137" w="420925">
                <a:moveTo>
                  <a:pt x="0" y="0"/>
                </a:moveTo>
                <a:lnTo>
                  <a:pt x="420926" y="0"/>
                </a:lnTo>
                <a:lnTo>
                  <a:pt x="420926" y="557137"/>
                </a:lnTo>
                <a:lnTo>
                  <a:pt x="0" y="557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66745" y="7301269"/>
            <a:ext cx="4249157" cy="697540"/>
            <a:chOff x="0" y="0"/>
            <a:chExt cx="1455080" cy="238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5080" cy="238865"/>
            </a:xfrm>
            <a:custGeom>
              <a:avLst/>
              <a:gdLst/>
              <a:ahLst/>
              <a:cxnLst/>
              <a:rect r="r" b="b" t="t" l="l"/>
              <a:pathLst>
                <a:path h="238865" w="1455080">
                  <a:moveTo>
                    <a:pt x="119433" y="0"/>
                  </a:moveTo>
                  <a:lnTo>
                    <a:pt x="1335647" y="0"/>
                  </a:lnTo>
                  <a:cubicBezTo>
                    <a:pt x="1367323" y="0"/>
                    <a:pt x="1397701" y="12583"/>
                    <a:pt x="1420099" y="34981"/>
                  </a:cubicBezTo>
                  <a:cubicBezTo>
                    <a:pt x="1442497" y="57379"/>
                    <a:pt x="1455080" y="87757"/>
                    <a:pt x="1455080" y="119433"/>
                  </a:cubicBezTo>
                  <a:lnTo>
                    <a:pt x="1455080" y="119433"/>
                  </a:lnTo>
                  <a:cubicBezTo>
                    <a:pt x="1455080" y="185393"/>
                    <a:pt x="1401608" y="238865"/>
                    <a:pt x="1335647" y="238865"/>
                  </a:cubicBezTo>
                  <a:lnTo>
                    <a:pt x="119433" y="238865"/>
                  </a:lnTo>
                  <a:cubicBezTo>
                    <a:pt x="53472" y="238865"/>
                    <a:pt x="0" y="185393"/>
                    <a:pt x="0" y="119433"/>
                  </a:cubicBezTo>
                  <a:lnTo>
                    <a:pt x="0" y="119433"/>
                  </a:lnTo>
                  <a:cubicBezTo>
                    <a:pt x="0" y="53472"/>
                    <a:pt x="53472" y="0"/>
                    <a:pt x="11943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55080" cy="29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0969" y="7446126"/>
            <a:ext cx="3480709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www.ecobank.com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481446" y="4638946"/>
            <a:ext cx="2424308" cy="2895701"/>
          </a:xfrm>
          <a:custGeom>
            <a:avLst/>
            <a:gdLst/>
            <a:ahLst/>
            <a:cxnLst/>
            <a:rect r="r" b="b" t="t" l="l"/>
            <a:pathLst>
              <a:path h="2895701" w="2424308">
                <a:moveTo>
                  <a:pt x="0" y="0"/>
                </a:moveTo>
                <a:lnTo>
                  <a:pt x="2424307" y="0"/>
                </a:lnTo>
                <a:lnTo>
                  <a:pt x="2424307" y="2895701"/>
                </a:lnTo>
                <a:lnTo>
                  <a:pt x="0" y="2895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688080" y="1049992"/>
            <a:ext cx="1074634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Accueil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91323" y="1049992"/>
            <a:ext cx="1446373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À Propos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6306" y="1049992"/>
            <a:ext cx="1218869" cy="33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b="true" sz="1867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13784" y="1049992"/>
            <a:ext cx="1281321" cy="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1"/>
              </a:lnSpc>
            </a:pPr>
            <a:r>
              <a:rPr lang="en-US" b="true" sz="1965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82960" y="4377295"/>
            <a:ext cx="6635037" cy="95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37"/>
              </a:lnSpc>
              <a:spcBef>
                <a:spcPct val="0"/>
              </a:spcBef>
            </a:pPr>
            <a:r>
              <a:rPr lang="en-US" b="true" sz="638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MERCI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00893" y="1005932"/>
            <a:ext cx="1930226" cy="3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4"/>
              </a:lnSpc>
            </a:pPr>
            <a:r>
              <a:rPr lang="en-US" b="true" sz="2042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1332894"/>
            <a:ext cx="1219493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3"/>
              </a:lnSpc>
            </a:pPr>
            <a:r>
              <a:rPr lang="en-US" sz="119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72166" y="7898381"/>
            <a:ext cx="3858748" cy="6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96"/>
              </a:lnSpc>
            </a:pPr>
            <a:r>
              <a:rPr lang="en-US" b="true" sz="4296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ECOBANK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82585" y="8532966"/>
            <a:ext cx="2437910" cy="66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6"/>
              </a:lnSpc>
            </a:pPr>
            <a:r>
              <a:rPr lang="en-US" sz="2398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Banque en Ligne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DAHFox8lqBM</dc:identifier>
  <dcterms:modified xsi:type="dcterms:W3CDTF">2011-08-01T06:04:30Z</dcterms:modified>
  <cp:revision>1</cp:revision>
  <dc:title>ECOBANK est votre nouvelle application bancaire qui simplifie votre quotidien financier. Gérez vos comptes, effectuez des virements et suivez vos dépenses en toute simplicité, où que vous soyez.</dc:title>
</cp:coreProperties>
</file>